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Rota de Estudo (StudyPath em inglês) é o projeto da dupla Rilson e Luiz para a disciplina de Engenharia de Software. À direita, um esboço da tela principal, o painel Hoje, que junta prova próxima, entrega do dia, aulas e o progresso da gamificação.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não é falta de agenda: é que a agenda comum não entende o semestre. Dados espalhados, grade fixa que sofre exceções, lembretes que não distinguem prova de entrega e nenhum incentivo à constância.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pilares. Organizar: o modelo segue a vida real do aluno (período, disciplina, tarefas, provas, grade). Lembrar: web push com antecedências diferentes para cada tipo de evento. Motivar: XP, nível, sequência e conquistas, sem punição no V1.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cebola de Alexander e Robertson. A camada 2 dá os atores dos casos de uso (o estudante). A camada 3 reúne quem avalia e quem ganha com o projeto. A camada 4 traz restrições externas: LGPD, padrões de push dos navegadores e a concorrência.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tabelas na migration V1. Seta indica 'contém'. O horário depende de período e disciplina ao mesmo tempo, garantido por chave composta no banco. A gamificação escuta eventos em vez de ser chamada pelo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entrega uma fatia vertical: conta, período, disciplina, tarefa e o painel Hoje. P2 completa a agenda. P3 depende de dados reais para ter valor: lembretes, gamificação e login com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de prioridade 1. À direita, uma história de usuário candidata para esta etapa, com critérios de aceite que viram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de prioridade 2. À direita, uma história de usuário candidata para esta etapa, com critérios de aceite que viram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de prioridade 3. À direita, uma história de usuário candidata para esta etapa, com critérios de aceite que viram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RNF tem um número que pode ser conferido. Sobre os 99,5%: é meta, não garantia. Uma VPS única com um container de Postgres resiste a reinício e falha de processo, mas não é alta disponibilidade contra perda da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UC07 estende o lançamento e a conclusão de tarefas: a gamificação acontece como efeito, sem ser passo obrigatório. UC03 inclui o agendamento do lembrete. UC05 estende a grade semanal: só existe cancelamento de uma aula que já está na grade. O login com Google é o RF13, prioridade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caso de uso que diferencia o produto de uma agenda comum. O contrato OpenAPI já tem a criação (POST) e a remoção (DELETE) do cancelamento. A regra de recusar data passada ainda precisa entrar no contrato e nos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registradas em cinco ADRs: Spring Boot no backend, Vite+React no front (sem Next, porque o app é autenticado e SEO não importa), i18n desde o V1, shadcn/ui com identidade neutra e Postgres compartilhado na VPS. O contrato OpenAPI é a fronteira entre as frentes da dupla.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· UFRPE · 2026.2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93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StudyPath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agenda acadêmica para organizar o semestre: aulas, prazos, provas, lembretes e uma gamificação leve.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do projeto, requisitos e escopo do MVP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97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Rilson Joás · Luiz Felipe Silva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502920"/>
            <a:ext cx="3246120" cy="5852160"/>
          </a:xfrm>
          <a:prstGeom prst="roundRect">
            <a:avLst>
              <a:gd name="adj" fmla="val 9859"/>
            </a:avLst>
          </a:prstGeom>
          <a:solidFill>
            <a:srgbClr val="162720"/>
          </a:solidFill>
          <a:ln w="25400">
            <a:solidFill>
              <a:srgbClr val="293D3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909560" y="868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Segunda, 19 de outubro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09560" y="155448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293D35"/>
          </a:solidFill>
          <a:ln w="12700">
            <a:solidFill>
              <a:srgbClr val="293D35"/>
            </a:solidFill>
            <a:prstDash val="solid"/>
          </a:ln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73352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412480" y="169164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5 dias · Nível 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09560" y="228600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1C3229"/>
          </a:solidFill>
          <a:ln w="12700">
            <a:solidFill>
              <a:srgbClr val="293D35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046720" y="24140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046720" y="2432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00684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 dias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09560" y="3273552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1C3229"/>
          </a:solidFill>
          <a:ln w="12700">
            <a:solidFill>
              <a:srgbClr val="293D35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046720" y="34015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93C7A6"/>
          </a:solidFill>
          <a:ln w="12700">
            <a:solidFill>
              <a:srgbClr val="93C7A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046720" y="34198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006840" y="3392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ES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23:59 · prioridade alta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909560" y="4261104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1C3229"/>
          </a:solidFill>
          <a:ln w="12700">
            <a:solidFill>
              <a:srgbClr val="293D35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046720" y="43891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93D35"/>
          </a:solidFill>
          <a:ln w="12700">
            <a:solidFill>
              <a:srgbClr val="293D35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8046720" y="440740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006840" y="4379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trike="sngStrike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46720" y="4764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 · cancelada hoje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909560" y="5248656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1C3229"/>
          </a:solidFill>
          <a:ln w="12700">
            <a:solidFill>
              <a:srgbClr val="293D35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8046720" y="537667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93C7A6"/>
          </a:solidFill>
          <a:ln w="12700">
            <a:solidFill>
              <a:srgbClr val="93C7A6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8046720" y="5394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9006840" y="5367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de Software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046720" y="5751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20:10 – 21:50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semestre muda mais rápido do que a agenda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0F1E18"/>
          </a:solidFill>
          <a:ln w="9525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144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7744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ajudar o estudante a não perder aula, prazo e prova num semestre que muda toda semana, sem fazer da organização mais uma tarefa?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faculdade tem seu calendário. Aulas são canceladas, provas mudam de data e as entregas se acumulam nas mesmas semanas.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691640"/>
            <a:ext cx="640080" cy="64008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4" y="188366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675120" y="1673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espalhada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02082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Horários, prazos e provas ficam em lugares diferentes. Nenhum deles mostra o semestre inteiro.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06440" y="2807208"/>
            <a:ext cx="640080" cy="64008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299923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6751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instável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31363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Cancelamentos e feriados mudam a semana, mas a grade fixa continua a mesma no calendário comum.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806440" y="3922776"/>
            <a:ext cx="640080" cy="64008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411480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675120" y="3904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na hora errada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675120" y="4251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agenda genérica avisa igual para tudo. Prova pede aviso com dias de antecedência, entrega pede aviso na véspera.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806440" y="5038344"/>
            <a:ext cx="640080" cy="64008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523036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675120" y="50200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estímulo à constância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675120" y="53675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um pouco todo dia não gera retorno visível até a nota sair.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agenda acadêmica que entende o semestre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mobile-first, com o semestre do aluno organizado em um só lugar. A versão instalável (PWA) e os avisos no celular chegam **depois** da apresentação.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560320"/>
            <a:ext cx="731520" cy="731520"/>
          </a:xfrm>
          <a:prstGeom prst="ellipse">
            <a:avLst/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7797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783080" y="267004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4747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→ disciplina → tarefas, provas e grade de aulas.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60520"/>
            <a:ext cx="28751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período ativo por vez, aberto e arquivado pelo aluno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com prazo; concluir é o essencial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com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 de aula por data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38218" y="228600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658258" y="2560320"/>
            <a:ext cx="731520" cy="731520"/>
          </a:xfrm>
          <a:prstGeom prst="ellipse">
            <a:avLst/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714" y="277977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72658" y="267004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Lembrar (depois da apresentação)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4658258" y="34747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no navegador e no celular, no tempo certo para cada evento.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4658258" y="4160520"/>
            <a:ext cx="28751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24 h antes (antecedência fixa)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Prova: cascata 7, 3 e 1 dia antes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cancelada não gera lembrete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 o fuso horário do usuário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27797" y="228600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447837" y="2560320"/>
            <a:ext cx="731520" cy="731520"/>
          </a:xfrm>
          <a:prstGeom prst="ellipse">
            <a:avLst/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293" y="277977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362237" y="267004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Motivar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34747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leve que só recompensa no V1.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8447837" y="4160520"/>
            <a:ext cx="28751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pontos por tarefa + 50 ao subir de nível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a cada 3 tarefas concluídas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dias com tarefa concluída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Conquistas por marcos do semestre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cebola: quem o sistema toca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1691640"/>
            <a:ext cx="4389120" cy="4389120"/>
          </a:xfrm>
          <a:prstGeom prst="ellipse">
            <a:avLst/>
          </a:prstGeom>
          <a:solidFill>
            <a:srgbClr val="C9DDD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94460" y="2125980"/>
            <a:ext cx="3520440" cy="3520440"/>
          </a:xfrm>
          <a:prstGeom prst="ellipse">
            <a:avLst/>
          </a:prstGeom>
          <a:solidFill>
            <a:srgbClr val="A9CCB5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920240" y="2651760"/>
            <a:ext cx="2468880" cy="2468880"/>
          </a:xfrm>
          <a:prstGeom prst="ellipse">
            <a:avLst/>
          </a:prstGeom>
          <a:solidFill>
            <a:srgbClr val="5F9C7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68880" y="3200400"/>
            <a:ext cx="1371600" cy="1371600"/>
          </a:xfrm>
          <a:prstGeom prst="ellipse">
            <a:avLst/>
          </a:prstGeom>
          <a:solidFill>
            <a:srgbClr val="0F1E18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78308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Ambiente amplo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Sistema abrangedor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 sistema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593592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618488"/>
            <a:ext cx="457200" cy="457200"/>
          </a:xfrm>
          <a:prstGeom prst="ellipse">
            <a:avLst/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9893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938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em React, API em Spring Boot, banco PostgreSQL, publicado atrás do Traefik. Instalação como PWA é da Fase 2.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2761488"/>
            <a:ext cx="457200" cy="457200"/>
          </a:xfrm>
          <a:prstGeom prst="ellipse">
            <a:avLst/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98932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081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universitários, da UFRPE e de outras instituições. Rilson e Luiz são os primeiros usuários.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89320" y="3904488"/>
            <a:ext cx="457200" cy="457200"/>
          </a:xfrm>
          <a:prstGeom prst="ellipse">
            <a:avLst/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9893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abrangedor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224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dupla, que assina o projeto no portfólio; a professora e a disciplina, que avaliam; grupos de estudo e um possível plano pago no futuro.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89320" y="5047488"/>
            <a:ext cx="457200" cy="457200"/>
          </a:xfrm>
          <a:prstGeom prst="ellipse">
            <a:avLst/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98932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amplo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5367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(e-mail, senha e login Google de estudantes), padrões de Web Push dos navegadores, lojas de apps e concorrentes como MyStudyLife, Notion e Todoist.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DOMÍNIO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gira em torno da disciplina, dentro de um período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0F1E18"/>
          </a:solidFill>
          <a:ln w="9525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B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dos próprios dados. Contas individuais.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8745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79476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semestre. Só um aberto por vez; o aluno arquiva.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8745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0F1E18"/>
          </a:solidFill>
          <a:ln w="9525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B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disciplina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central: toda tarefa e prova pertence a uma.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18320" y="146304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601200" y="1581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tarefa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prioridade, prazo, tags.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0" y="260604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601200" y="2724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3063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35204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3794760" y="3639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horario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semanal fixa: a grade-tipo.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35204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858000" y="3639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cancelamento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 por data: some do dia e silencia o lembrete.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31520" y="3639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config_notificacao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Antecedências fixas por evento (lista): 24 h para tarefa, cascata 7-3-1 para prova.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2331720"/>
            <a:ext cx="594360" cy="91"/>
          </a:xfrm>
          <a:prstGeom prst="line">
            <a:avLst/>
          </a:prstGeom>
          <a:noFill/>
          <a:ln w="19050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080760" y="2331720"/>
            <a:ext cx="594360" cy="91"/>
          </a:xfrm>
          <a:prstGeom prst="line">
            <a:avLst/>
          </a:prstGeom>
          <a:noFill/>
          <a:ln w="19050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V="1">
            <a:off x="9144000" y="1920240"/>
            <a:ext cx="274320" cy="274320"/>
          </a:xfrm>
          <a:prstGeom prst="line">
            <a:avLst/>
          </a:prstGeom>
          <a:noFill/>
          <a:ln w="19050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144000" y="2468880"/>
            <a:ext cx="274320" cy="594360"/>
          </a:xfrm>
          <a:prstGeom prst="line">
            <a:avLst/>
          </a:prstGeom>
          <a:noFill/>
          <a:ln w="19050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46320" y="2788920"/>
            <a:ext cx="91" cy="731520"/>
          </a:xfrm>
          <a:prstGeom prst="line">
            <a:avLst/>
          </a:prstGeom>
          <a:noFill/>
          <a:ln w="19050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080760" y="3977640"/>
            <a:ext cx="594360" cy="91"/>
          </a:xfrm>
          <a:prstGeom prst="line">
            <a:avLst/>
          </a:prstGeom>
          <a:noFill/>
          <a:ln w="19050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783080" y="2788920"/>
            <a:ext cx="91" cy="731520"/>
          </a:xfrm>
          <a:prstGeom prst="line">
            <a:avLst/>
          </a:prstGeom>
          <a:noFill/>
          <a:ln w="19050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48640" y="4846320"/>
            <a:ext cx="11109960" cy="1234440"/>
          </a:xfrm>
          <a:prstGeom prst="roundRect">
            <a:avLst>
              <a:gd name="adj" fmla="val 8889"/>
            </a:avLst>
          </a:prstGeom>
          <a:solidFill>
            <a:srgbClr val="FBF1D9"/>
          </a:solidFill>
          <a:ln w="15875">
            <a:solidFill>
              <a:srgbClr val="E6B84D"/>
            </a:solidFill>
            <a:prstDash val="dash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77240" y="5074920"/>
            <a:ext cx="777240" cy="777240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5308092"/>
            <a:ext cx="310896" cy="310896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78308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gamificacao — módulo isolado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783080" y="537667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eventos de domínio (tarefa concluída) e produz XP, nível, sequência e conquistas. Não se acopla ao CRUD; a punição fica como ponto de extensão para depois do V1.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ESCOPO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níveis de prioridade, em ordem de dependência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187452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901952"/>
            <a:ext cx="2052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vertical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286000"/>
            <a:ext cx="2006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mínimo que já resolve o problema de ponta a ponta.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2960" y="31272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3639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com e-mail e senha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2960" y="36758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68503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períodos e disciplinas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2062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22960" y="42245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23367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e concluir tarefas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22960" y="53218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33095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painel Hoje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38218" y="160020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612538" y="187452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F6B4A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612538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664098" y="1901952"/>
            <a:ext cx="2052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completa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4098" y="2286000"/>
            <a:ext cx="2006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Provas, grade semanal e as exceções do calendário.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2538" y="31089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612538" y="31272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1218" y="313639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data de provas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12538" y="3657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4612538" y="36758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1218" y="368503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 grade semanal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12538" y="42062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4612538" y="42245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481218" y="423367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aula pontual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12538" y="47548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4612538" y="47731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RF11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1218" y="478231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semana (a visão do mês fica para depois)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12538" y="53035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8403336" y="3675887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RF09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272016" y="368503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Destacar colisões (depois da apresentação)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127797" y="160020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402117" y="187452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8402117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600" dirty="0"/>
          </a:p>
        </p:txBody>
      </p:sp>
      <p:sp>
        <p:nvSpPr>
          <p:cNvPr id="47" name="Text 45"/>
          <p:cNvSpPr txBox="1"/>
          <p:nvPr/>
        </p:nvSpPr>
        <p:spPr>
          <a:xfrm>
            <a:off x="9453677" y="1901952"/>
            <a:ext cx="2052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apresentação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9453677" y="2286000"/>
            <a:ext cx="2006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Polimento e integrações externas. Nenhum destes entra na 2ª VA.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402117" y="31089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8402117" y="31272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9270797" y="313639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 lembretes Web Push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402117" y="3657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8403336" y="42245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RF12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9272016" y="423367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Preferências de notificação (adiado)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402117" y="42062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822960" y="47731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691640" y="478231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nível e sequência (mínimo)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402117" y="47548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 txBox="1"/>
          <p:nvPr/>
        </p:nvSpPr>
        <p:spPr>
          <a:xfrm>
            <a:off x="8402117" y="47731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RF13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9270797" y="4782312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com Google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implementação: RF01 → RF02 → RF03 → RF10 → RF08 → RF04 → RF05 → RF06 → RF11 → RF07 → RF13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2910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prazo apertar, o corte é por ordem combinada: 1º a tela da Semana vira um bloco dentro do Hoje; 2º sai o registro de provas; 3º sai a gamificação, só se a professora abrir mão. Nunca cortar o cancelamento de aula.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· PRIORIDADE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vertical: conta, período, tarefa e Hoje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9494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7830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17465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com e-mail e senha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tudo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05740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login com e-mail e senha; sessão em cookie httpOnly com refresh rotativo e logout.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69494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28620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77240" y="28803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8254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períodos e disciplinas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13639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editar e arquivar o período; criar disciplinas com nome e cor dentro dele.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58184"/>
            <a:ext cx="69494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394106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3959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904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e concluir tarefas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941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21538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com tipo (tarefa, trabalho, outro), prioridade, prazo e tags; marcar como concluída.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37176"/>
            <a:ext cx="69494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" y="5020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77240" y="50383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4983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painel Hoje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5020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529437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inicial com o que vence hoje e nos próximos dias, provas com contagem e progresso.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18120" y="1600200"/>
            <a:ext cx="3822192" cy="4572000"/>
          </a:xfrm>
          <a:prstGeom prst="roundRect">
            <a:avLst>
              <a:gd name="adj" fmla="val 2871"/>
            </a:avLst>
          </a:prstGeom>
          <a:solidFill>
            <a:srgbClr val="0F1E18"/>
          </a:solidFill>
          <a:ln w="9525">
            <a:solidFill>
              <a:srgbClr val="0F1E1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· PRIORIDADE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completa: provas, grade e exceções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949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7830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F6B4A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17465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data de provas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0574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com data e título.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96312"/>
            <a:ext cx="6949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26791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F6B4A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77240" y="26974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642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 grade semanal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679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29535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fixas por dia da semana e horário, válidas dentro do período.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92424"/>
            <a:ext cx="6949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35753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F6B4A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35935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5387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aula pontual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575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384962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que a aula de uma data não acontece, com motivo opcional; poder desfazer.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88536"/>
            <a:ext cx="6949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" y="447141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F6B4A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77240" y="44897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RF11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4434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semana (a visão do mês fica para depois)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RF04, RF05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474573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semana (grade de horários), começando na segunda-feira.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184648"/>
            <a:ext cx="6949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77240" y="53675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F6B4A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777240" y="53858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RF09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737360" y="5330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Destacar colisões (depois da apresentação)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0" y="5367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RF11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737360" y="56418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Sinalizar prazos e provas que caem no mesmo dia ou horário.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818120" y="1600200"/>
            <a:ext cx="3822192" cy="4572000"/>
          </a:xfrm>
          <a:prstGeom prst="roundRect">
            <a:avLst>
              <a:gd name="adj" fmla="val 2871"/>
            </a:avLst>
          </a:prstGeom>
          <a:solidFill>
            <a:srgbClr val="0F1E18"/>
          </a:solidFill>
          <a:ln w="9525">
            <a:solidFill>
              <a:srgbClr val="0F1E1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· PRIORIDADE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Engajamento: lembretes e gamificação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9494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7830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17465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 lembretes Web Push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RF03, RF04, RF06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05740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(VAPID) disparado por job agendado no servidor; tarefa 24 h antes, prova 7-3-1.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69494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28620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77240" y="28803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8254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Preferências de notificação (adiado)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13639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antecedências por tipo de evento. Adiado: no MVP as antecedências são fixas e não há esta tela.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58184"/>
            <a:ext cx="69494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394106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3959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904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nível, sequência e conquistas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941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RF03, RF04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21538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domínio viram XP, nível, sequência de dias e conquistas.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37176"/>
            <a:ext cx="69494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" y="5020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77240" y="50383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RF13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4983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com Google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5020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RF01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529437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conta Google como alternativa ao e-mail e senha.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18120" y="1600200"/>
            <a:ext cx="3822192" cy="4572000"/>
          </a:xfrm>
          <a:prstGeom prst="roundRect">
            <a:avLst>
              <a:gd name="adj" fmla="val 2871"/>
            </a:avLst>
          </a:prstGeom>
          <a:solidFill>
            <a:srgbClr val="0F1E18"/>
          </a:solidFill>
          <a:ln w="9525">
            <a:solidFill>
              <a:srgbClr val="0F1E1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ROBUSTEZ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requisitos, e só os que dão para testar antes da apresentação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22476" y="1600200"/>
            <a:ext cx="4206240" cy="457200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796795" y="1874519"/>
            <a:ext cx="640080" cy="64008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19" y="2066543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574036" y="1920240"/>
            <a:ext cx="1379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574036" y="2167128"/>
            <a:ext cx="1379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796795" y="2788920"/>
            <a:ext cx="3657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px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1796795" y="3657600"/>
            <a:ext cx="36575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operável só com toque, de 360 a 2560 px de largura, sem depender de hover.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705356" y="5257800"/>
            <a:ext cx="3840479" cy="777240"/>
          </a:xfrm>
          <a:prstGeom prst="roundRect">
            <a:avLst>
              <a:gd name="adj" fmla="val 9412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842515" y="5330952"/>
            <a:ext cx="356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verificar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Playwright: tela de 360 px operável só por toque.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60236" y="1600200"/>
            <a:ext cx="4206240" cy="457200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80" y="2066543"/>
            <a:ext cx="256032" cy="25603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731355" y="1874519"/>
            <a:ext cx="640080" cy="64008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 txBox="1"/>
          <p:nvPr/>
        </p:nvSpPr>
        <p:spPr>
          <a:xfrm>
            <a:off x="7508596" y="1920240"/>
            <a:ext cx="1379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7508596" y="2167128"/>
            <a:ext cx="1379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731355" y="2788920"/>
            <a:ext cx="3657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vazamentos</a:t>
            </a:r>
            <a:endParaRPr lang="en-US" sz="3800" dirty="0"/>
          </a:p>
        </p:txBody>
      </p:sp>
      <p:sp>
        <p:nvSpPr>
          <p:cNvPr id="31" name="Text 26"/>
          <p:cNvSpPr txBox="1"/>
          <p:nvPr/>
        </p:nvSpPr>
        <p:spPr>
          <a:xfrm>
            <a:off x="6731355" y="3657600"/>
            <a:ext cx="36575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um aluno nunca aparecem para outro: autorização por dono em toda rota e sessão em cookie httpOnly.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639916" y="5257800"/>
            <a:ext cx="3840479" cy="777240"/>
          </a:xfrm>
          <a:prstGeom prst="roundRect">
            <a:avLst>
              <a:gd name="adj" fmla="val 9412"/>
            </a:avLst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33" name="Text 28"/>
          <p:cNvSpPr txBox="1"/>
          <p:nvPr/>
        </p:nvSpPr>
        <p:spPr>
          <a:xfrm>
            <a:off x="6777075" y="5330952"/>
            <a:ext cx="356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verificar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API: recurso de outra conta responde 404.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ator principal e dois sistemas externos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914400" cy="914400"/>
          </a:xfrm>
          <a:prstGeom prst="ellipse">
            <a:avLst/>
          </a:prstGeom>
          <a:solidFill>
            <a:srgbClr val="0F1E18"/>
          </a:solidFill>
          <a:ln w="12700">
            <a:solidFill>
              <a:srgbClr val="0F1E18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7947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51760" y="1508760"/>
            <a:ext cx="667512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5875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834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80360" y="1874520"/>
            <a:ext cx="2834640" cy="713232"/>
          </a:xfrm>
          <a:prstGeom prst="ellipse">
            <a:avLst/>
          </a:prstGeom>
          <a:solidFill>
            <a:srgbClr val="E3EEE7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108960" y="19476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usuário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80360" y="2743200"/>
            <a:ext cx="2834640" cy="713232"/>
          </a:xfrm>
          <a:prstGeom prst="ellipse">
            <a:avLst/>
          </a:prstGeom>
          <a:solidFill>
            <a:srgbClr val="E3EEE7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108960" y="28163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UC06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painel Hoje e prazos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80360" y="3611880"/>
            <a:ext cx="2834640" cy="713232"/>
          </a:xfrm>
          <a:prstGeom prst="ellipse">
            <a:avLst/>
          </a:prstGeom>
          <a:solidFill>
            <a:srgbClr val="E3EEE7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108960" y="3685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UC02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período e disciplinas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80360" y="4480560"/>
            <a:ext cx="2834640" cy="713232"/>
          </a:xfrm>
          <a:prstGeom prst="ellipse">
            <a:avLst/>
          </a:prstGeom>
          <a:solidFill>
            <a:srgbClr val="E3EEE7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3108960" y="45537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UC03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tarefas e provas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80360" y="5349240"/>
            <a:ext cx="2834640" cy="713232"/>
          </a:xfrm>
          <a:prstGeom prst="ellipse">
            <a:avLst/>
          </a:prstGeom>
          <a:solidFill>
            <a:srgbClr val="E3EEE7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3108960" y="5422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UC04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grade semanal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55080" y="3611880"/>
            <a:ext cx="2834640" cy="713232"/>
          </a:xfrm>
          <a:prstGeom prst="ellipse">
            <a:avLst/>
          </a:prstGeom>
          <a:solidFill>
            <a:srgbClr val="E3EEE7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583680" y="3685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UC07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Computar XP e sequência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55080" y="4480560"/>
            <a:ext cx="2834640" cy="713232"/>
          </a:xfrm>
          <a:prstGeom prst="ellipse">
            <a:avLst/>
          </a:prstGeom>
          <a:solidFill>
            <a:srgbClr val="E3EEE7"/>
          </a:solidFill>
          <a:ln w="1270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583680" y="45537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UC08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e disparar lembrete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355080" y="5349240"/>
            <a:ext cx="2834640" cy="713232"/>
          </a:xfrm>
          <a:prstGeom prst="ellipse">
            <a:avLst/>
          </a:prstGeom>
          <a:solidFill>
            <a:srgbClr val="FBF1D9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6583680" y="5422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cancelamento de aula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 flipV="1">
            <a:off x="1691640" y="2231136"/>
            <a:ext cx="1188720" cy="1746504"/>
          </a:xfrm>
          <a:prstGeom prst="line">
            <a:avLst/>
          </a:prstGeom>
          <a:noFill/>
          <a:ln w="15875">
            <a:solidFill>
              <a:srgbClr val="3A4A42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1691640" y="3099816"/>
            <a:ext cx="1188720" cy="877824"/>
          </a:xfrm>
          <a:prstGeom prst="line">
            <a:avLst/>
          </a:prstGeom>
          <a:noFill/>
          <a:ln w="15875">
            <a:solidFill>
              <a:srgbClr val="3A4A42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1691640" y="3968496"/>
            <a:ext cx="1188720" cy="9144"/>
          </a:xfrm>
          <a:prstGeom prst="line">
            <a:avLst/>
          </a:prstGeom>
          <a:noFill/>
          <a:ln w="15875">
            <a:solidFill>
              <a:srgbClr val="3A4A42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91640" y="3977640"/>
            <a:ext cx="1188720" cy="859536"/>
          </a:xfrm>
          <a:prstGeom prst="line">
            <a:avLst/>
          </a:prstGeom>
          <a:noFill/>
          <a:ln w="15875">
            <a:solidFill>
              <a:srgbClr val="3A4A42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691640" y="3977640"/>
            <a:ext cx="1188720" cy="1728216"/>
          </a:xfrm>
          <a:prstGeom prst="line">
            <a:avLst/>
          </a:prstGeom>
          <a:noFill/>
          <a:ln w="15875">
            <a:solidFill>
              <a:srgbClr val="3A4A42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 flipH="1">
            <a:off x="5715000" y="3968496"/>
            <a:ext cx="640080" cy="786384"/>
          </a:xfrm>
          <a:prstGeom prst="line">
            <a:avLst/>
          </a:prstGeom>
          <a:noFill/>
          <a:ln w="15875">
            <a:solidFill>
              <a:srgbClr val="2F6B4A"/>
            </a:solidFill>
            <a:prstDash val="dash"/>
            <a:tailEnd type="open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5623560" y="3931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715000" y="4837176"/>
            <a:ext cx="640080" cy="91"/>
          </a:xfrm>
          <a:prstGeom prst="line">
            <a:avLst/>
          </a:prstGeom>
          <a:noFill/>
          <a:ln w="15875">
            <a:solidFill>
              <a:srgbClr val="2F6B4A"/>
            </a:solidFill>
            <a:prstDash val="dash"/>
            <a:tailEnd type="open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5623560" y="4873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 flipH="1">
            <a:off x="5715000" y="5705856"/>
            <a:ext cx="640080" cy="91"/>
          </a:xfrm>
          <a:prstGeom prst="line">
            <a:avLst/>
          </a:prstGeom>
          <a:noFill/>
          <a:ln w="15875">
            <a:solidFill>
              <a:srgbClr val="2F6B4A"/>
            </a:solidFill>
            <a:prstDash val="dash"/>
            <a:tailEnd type="open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5623560" y="5742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10287000" y="1783080"/>
            <a:ext cx="777240" cy="77724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172" y="2016252"/>
            <a:ext cx="310896" cy="310896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9738360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10287000" y="4160520"/>
            <a:ext cx="777240" cy="77724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172" y="4393692"/>
            <a:ext cx="310896" cy="310896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9738360" y="4983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Web Push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 flipV="1">
            <a:off x="5715000" y="2171700"/>
            <a:ext cx="4572000" cy="59436"/>
          </a:xfrm>
          <a:prstGeom prst="line">
            <a:avLst/>
          </a:prstGeom>
          <a:noFill/>
          <a:ln w="15875">
            <a:solidFill>
              <a:srgbClr val="3A4A42"/>
            </a:solidFill>
            <a:prstDash val="solid"/>
          </a:ln>
        </p:spPr>
        <p:txBody>
          <a:bodyPr/>
          <a:p/>
        </p:txBody>
      </p:sp>
      <p:sp>
        <p:nvSpPr>
          <p:cNvPr id="46" name="Shape 41"/>
          <p:cNvSpPr/>
          <p:nvPr/>
        </p:nvSpPr>
        <p:spPr>
          <a:xfrm flipV="1">
            <a:off x="9189720" y="4549140"/>
            <a:ext cx="1097280" cy="288036"/>
          </a:xfrm>
          <a:prstGeom prst="line">
            <a:avLst/>
          </a:prstGeom>
          <a:noFill/>
          <a:ln w="15875">
            <a:solidFill>
              <a:srgbClr val="3A4A42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EM DETALHE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 · Registrar cancelamento de aula pontual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46634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6654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79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169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que a aula de uma data não acontece: some do calendário e o lembrete daquele dia é silenciado.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295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673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e horário cadastrados na grade (UC04).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799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PÓS-CONDIÇÃO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177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em cancelamento, aula oculta naquela data e nenhum lembrete disparado para ela.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30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681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no card da aula e escolher “Cancelar aula nesta data”.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07608" y="1783080"/>
            <a:ext cx="91" cy="3063240"/>
          </a:xfrm>
          <a:prstGeom prst="line">
            <a:avLst/>
          </a:prstGeom>
          <a:noFill/>
          <a:ln w="28575">
            <a:solidFill>
              <a:srgbClr val="93C7A6"/>
            </a:solidFill>
            <a:prstDash val="dash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806440" y="1645920"/>
            <a:ext cx="402336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80644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6733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estudante abre a aula na grade ou no painel Hoje e toca em “Registrar cancelamento”.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06440" y="2212848"/>
            <a:ext cx="402336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8064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240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modal pede a confirmação da data e um motivo opcional.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06440" y="2779776"/>
            <a:ext cx="402336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580644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8072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front envia POST /api/v1/horarios/{horarioId}/cancelamentos com a data.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06440" y="3346704"/>
            <a:ext cx="402336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8064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37413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confere se o horário é do usuário e grava o cancelamento.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806440" y="3913632"/>
            <a:ext cx="402336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80644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39410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job de lembretes passa a ignorar aquela aula naquela data.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06440" y="4480560"/>
            <a:ext cx="402336" cy="402336"/>
          </a:xfrm>
          <a:prstGeom prst="ellipse">
            <a:avLst/>
          </a:prstGeom>
          <a:solidFill>
            <a:srgbClr val="E6B84D"/>
          </a:solidFill>
          <a:ln w="31750">
            <a:solidFill>
              <a:srgbClr val="2F6B4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58064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45079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calendário mostra a aula como cancelada.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806440" y="5120640"/>
            <a:ext cx="2788920" cy="1051560"/>
          </a:xfrm>
          <a:prstGeom prst="roundRect">
            <a:avLst>
              <a:gd name="adj" fmla="val 10435"/>
            </a:avLst>
          </a:prstGeom>
          <a:solidFill>
            <a:srgbClr val="E3EEE7"/>
          </a:solidFill>
          <a:ln w="9525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5989320" y="52303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FA01 · Desfazer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/cancelamentos/{id} devolve a aula e reagenda o lembrete se houver tempo.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78240" y="512064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F6E3E1"/>
          </a:solidFill>
          <a:ln w="9525">
            <a:solidFill>
              <a:srgbClr val="F6E3E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8961120" y="523036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FE01 · Data passada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Recusada com mensagem clara. Regra ainda não descrita no contrato.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ellipse">
            <a:avLst/>
          </a:prstGeom>
          <a:solidFill>
            <a:srgbClr val="E6B84D"/>
          </a:solidFill>
          <a:ln w="12700">
            <a:solidFill>
              <a:srgbClr val="E6B84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 API separados por um contrato OpenAPI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Estudo · Documento de Visão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0F1E18"/>
          </a:solidFill>
          <a:ln w="9525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293D35"/>
          </a:solidFill>
          <a:ln w="12700">
            <a:solidFill>
              <a:srgbClr val="293D35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3911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847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/ PWA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1762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TypeScript, Tailwind e shadcn/ui. O service worker (instalação e push) é da Fase 2.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06240" y="16459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434840" y="1874520"/>
            <a:ext cx="548640" cy="54864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03911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20640" y="1847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120640" y="217627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 roteamento na VPS Hetzner. Nginx serve o front e faz proxy de /api.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589520" y="1645920"/>
            <a:ext cx="4050792" cy="1463040"/>
          </a:xfrm>
          <a:prstGeom prst="roundRect">
            <a:avLst>
              <a:gd name="adj" fmla="val 7500"/>
            </a:avLst>
          </a:prstGeom>
          <a:solidFill>
            <a:srgbClr val="0F1E18"/>
          </a:solidFill>
          <a:ln w="9525">
            <a:solidFill>
              <a:srgbClr val="0F1E18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7818120" y="1874520"/>
            <a:ext cx="548640" cy="548640"/>
          </a:xfrm>
          <a:prstGeom prst="ellipse">
            <a:avLst/>
          </a:prstGeom>
          <a:solidFill>
            <a:srgbClr val="293D35"/>
          </a:solidFill>
          <a:ln w="12700">
            <a:solidFill>
              <a:srgbClr val="293D35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03911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03920" y="184708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Spring Boot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503920" y="2176272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21, Spring Security, JPA e Flyway. Autorização por dono em toda rota; jobs agendados de lembrete.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589520" y="370332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7818120" y="3931920"/>
            <a:ext cx="548640" cy="54864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40965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503920" y="390448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503920" y="4233672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rota_de_estudo_db com role isolada rota_app. Schema só muda por migration.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06240" y="370332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9D8CE"/>
            </a:solidFill>
            <a:prstDash val="solid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4434840" y="3931920"/>
            <a:ext cx="548640" cy="54864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p/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09651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20640" y="39044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(VAPID)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5120640" y="423367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push do navegador entrega o lembrete.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3566160" y="2377440"/>
            <a:ext cx="640080" cy="91"/>
          </a:xfrm>
          <a:prstGeom prst="line">
            <a:avLst/>
          </a:prstGeom>
          <a:noFill/>
          <a:ln w="22225">
            <a:solidFill>
              <a:srgbClr val="2F6B4A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3" name="Shape 26"/>
          <p:cNvSpPr/>
          <p:nvPr/>
        </p:nvSpPr>
        <p:spPr>
          <a:xfrm>
            <a:off x="6949440" y="2377440"/>
            <a:ext cx="640080" cy="91"/>
          </a:xfrm>
          <a:prstGeom prst="line">
            <a:avLst/>
          </a:prstGeom>
          <a:noFill/>
          <a:ln w="22225">
            <a:solidFill>
              <a:srgbClr val="2F6B4A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4" name="Shape 27"/>
          <p:cNvSpPr/>
          <p:nvPr/>
        </p:nvSpPr>
        <p:spPr>
          <a:xfrm>
            <a:off x="9601200" y="3108960"/>
            <a:ext cx="91" cy="594360"/>
          </a:xfrm>
          <a:prstGeom prst="line">
            <a:avLst/>
          </a:prstGeom>
          <a:noFill/>
          <a:ln w="22225">
            <a:solidFill>
              <a:srgbClr val="2F6B4A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 flipH="1">
            <a:off x="6949440" y="3108960"/>
            <a:ext cx="1188720" cy="822960"/>
          </a:xfrm>
          <a:prstGeom prst="line">
            <a:avLst/>
          </a:prstGeom>
          <a:noFill/>
          <a:ln w="22225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 flipH="1" flipV="1">
            <a:off x="2057400" y="3108960"/>
            <a:ext cx="2148840" cy="1261872"/>
          </a:xfrm>
          <a:prstGeom prst="line">
            <a:avLst/>
          </a:prstGeom>
          <a:noFill/>
          <a:ln w="22225">
            <a:solidFill>
              <a:srgbClr val="2F6B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Shape 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3EEE7"/>
          </a:solidFill>
          <a:ln w="9525">
            <a:solidFill>
              <a:srgbClr val="E3EEE7"/>
            </a:solidFill>
            <a:prstDash val="solid"/>
          </a:ln>
        </p:spPr>
        <p:txBody>
          <a:bodyPr/>
          <a:p/>
        </p:txBody>
      </p:sp>
      <p:sp>
        <p:nvSpPr>
          <p:cNvPr id="38" name="Text 31"/>
          <p:cNvSpPr txBox="1"/>
          <p:nvPr/>
        </p:nvSpPr>
        <p:spPr>
          <a:xfrm>
            <a:off x="822960" y="5577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 </a:t>
            </a:r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e Playwright no front · JUnit e Mockito na API      </a:t>
            </a:r>
            <a:pPr indent="0" marL="0">
              <a:buNone/>
            </a:pPr>
            <a:r>
              <a:rPr lang="en-US" sz="12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 </a:t>
            </a:r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e Uptime Kuma      </a:t>
            </a:r>
            <a:pPr indent="0" marL="0">
              <a:buNone/>
            </a:pPr>
            <a:r>
              <a:rPr lang="en-US" sz="1250" b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</a:t>
            </a:r>
            <a:pPr indent="0" marL="0">
              <a:buNone/>
            </a:pPr>
            <a:r>
              <a:rPr lang="en-US" sz="1250" dirty="0">
                <a:solidFill>
                  <a:srgbClr val="0F1E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4343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docs/openapi.yaml gera os tipos TypeScript do front. Mudança incompatível passa por revisão do contrato antes do código.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 de Estudo — Visão do Projeto e Requisitos</dc:title>
  <dc:subject>PptxGenJS Presentation</dc:subject>
  <dc:creator>Rilson Joás e Luiz Felipe Silva</dc:creator>
  <cp:lastModifiedBy>Rilson Joás e Luiz Felipe Silva</cp:lastModifiedBy>
  <cp:revision>1</cp:revision>
  <dcterms:created xsi:type="dcterms:W3CDTF">2026-09-29T03:21:23Z</dcterms:created>
  <dcterms:modified xsi:type="dcterms:W3CDTF">2026-09-29T03:21:23Z</dcterms:modified>
</cp:coreProperties>
</file>