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Rota de Estudo (StudyPath em inglês) é o projeto da dupla Rilson e Luiz para a disciplina de Engenharia de Software. À direita, um esboço da tela principal, o painel Hoje, que junta prova próxima, entrega do dia, aulas e o progresso da gamificação.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não é falta de agenda: é que a agenda comum não entende o semestre. Dados espalhados, grade fixa que sofre exceções, lembretes que não distinguem prova de entrega e nenhum incentivo à constância.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pilares. Organizar: o modelo segue a vida real do aluno (período, disciplina, tarefas, provas, grade). Lembrar: web push com antecedências diferentes para cada tipo de evento. Motivar: XP, nível, sequência e conquistas, sem punição no 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cebola de Alexander e Robertson. A camada 2 dá os atores dos casos de uso (o estudante). A camada 3 reúne quem avalia e quem ganha com o projeto. A camada 4 traz restrições externas: LGPD, padrões de push dos navegadores e a concorrência.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Oito tabelas na migration V1. Seta indica 'contém'. O horário depende de período e disciplina ao mesmo tempo, garantido por chave composta no banco. A gamificação escuta eventos em vez de ser chamada pelo CRUD.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 entrega uma fatia vertical: conta, período, disciplina, tarefa e o painel Hoje. P2 completa a agenda. P3 depende de dados reais para ter valor: lembretes, gamificação e login com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de prioridade 1. À direita, uma história de usuário candidata para esta etapa, com critérios de aceite que viram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de prioridade 2. À direita, uma história de usuário candidata para esta etapa, com critérios de aceite que viram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de prioridade 3. À direita, uma história de usuário candidata para esta etapa, com critérios de aceite que viram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RNF tem um número que pode ser conferido. Sobre os 99,5%: é meta, não garantia. Uma VPS única com um container de Postgres resiste a reinício e falha de processo, mas não é alta disponibilidade contra perda da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UC07 estende o lançamento e a conclusão de tarefas: a gamificação acontece como efeito, sem ser passo obrigatório. UC03 inclui o agendamento do lembrete. UC05 estende a grade semanal: só existe cancelamento de uma aula que já está na grade. O login com Google é o RF13, prioridade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caso de uso que diferencia o produto de uma agenda comum. O contrato OpenAPI já tem a criação (POST) e a remoção (DELETE) do cancelamento. A regra de recusar data passada ainda precisa entrar no contrato e nos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Decisões registradas em cinco ADRs: Spring Boot no backend, Vite+React no front (sem Next, porque o app é autenticado e SEO não importa), i18n desde o V1, shadcn/ui com identidade neutra e Postgres compartilhado na VPS. O contrato OpenAPI é a fronteira entre as frentes da dupla.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datas vêm do cronograma da disciplina. O que entra em cada marco é a nossa proposta e será ajustado a cada status report, que é justamente o objetivo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conferidos no repositório: 18 caminhos no openapi.yaml, 8 tabelas na V1__create_core_schema.sql, 5 ADRs em docs/adr. Não houve deploy nem dados de usuário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com mitigação concreta. A lista da direita é o que decidimos não fazer no V1, para o escopo não crescer.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Critério de sucesso do MVP: a fatia vertical completa rodando localmente. Lembretes e gamificação são o diferencial da P3. Cada história só conta como pronta se passar nos três critérios da definição de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841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 · UFRPE · 2026.2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StudyPath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agenda acadêmica para organizar o semestre: aulas, prazos, provas, lembretes e uma gamificação leve.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do projeto, requisitos e escopo do MVP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97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Rilson Joás · Luiz Felipe Silva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502920"/>
            <a:ext cx="3246120" cy="5852160"/>
          </a:xfrm>
          <a:prstGeom prst="roundRect">
            <a:avLst>
              <a:gd name="adj" fmla="val 9859"/>
            </a:avLst>
          </a:prstGeom>
          <a:solidFill>
            <a:srgbClr val="162720"/>
          </a:solidFill>
          <a:ln w="25400">
            <a:solidFill>
              <a:srgbClr val="293D35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909560" y="868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Segunda, 19 de outubro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09560" y="1554480"/>
            <a:ext cx="2697480" cy="502920"/>
          </a:xfrm>
          <a:prstGeom prst="roundRect">
            <a:avLst>
              <a:gd name="adj" fmla="val 18182"/>
            </a:avLst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673352"/>
            <a:ext cx="256032" cy="25603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412480" y="169164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5 dias · Nível 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09560" y="2286000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1C3229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46720" y="24140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243230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2404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2788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 dias · peso 40%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909560" y="3273552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1C3229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34015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93C7A6"/>
          </a:solidFill>
          <a:ln w="12700">
            <a:solidFill>
              <a:srgbClr val="93C7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46720" y="34198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006840" y="33924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ES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37764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23:59 · prioridade alta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909560" y="4261104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1C3229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46720" y="43891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46720" y="44074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9006840" y="4379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trike="sngStrike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046720" y="47640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18:30 · cancelada hoje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09560" y="5248656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1C3229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046720" y="537667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93C7A6"/>
          </a:solidFill>
          <a:ln w="12700">
            <a:solidFill>
              <a:srgbClr val="93C7A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46720" y="5394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9006840" y="5367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de Software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046720" y="5751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20:10 – 21:50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semestre muda mais rápido do que a agenda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4846320" cy="4480560"/>
          </a:xfrm>
          <a:prstGeom prst="roundRect">
            <a:avLst>
              <a:gd name="adj" fmla="val 2449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ajudar o estudante a não perder aula, prazo e prova num semestre que muda toda semana, sem fazer da organização mais uma tarefa?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8006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faculdade tem seu calendário. Aulas são canceladas, provas mudam de data e as entregas se acumulam nas mesmas semanas.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06440" y="1691640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4" y="1883664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67512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 espalhada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202082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Horários, prazos e provas ficam em lugares diferentes. Nenhum deles mostra o semestre inteiro.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299923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675120" y="2788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instável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313639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Cancelamentos e feriados mudam a semana, mas a grade fixa continua a mesma no calendário comum.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806440" y="3922776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4114800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675120" y="390448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na hora errada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6675120" y="42519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agenda genérica avisa igual para tudo. Prova pede aviso com dias de antecedência, entrega pede aviso na véspera.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806440" y="5038344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5230368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675120" y="50200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estímulo à constância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6675120" y="536752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um pouco todo dia não gera retorno visível até a nota sair.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agenda acadêmica que entende o semestre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web instalável (PWA), mobile-first, com o semestre do aluno organizado em um só lugar. Nasce em português com o inglês pronto para ligar.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515258" cy="393192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560320"/>
            <a:ext cx="731520" cy="73152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779776"/>
            <a:ext cx="292608" cy="2926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783080" y="2670048"/>
            <a:ext cx="2143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4747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→ disciplina → tarefas, provas e grade de aulas.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16052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período ativo por vez, aberto e arquivado pelo aluno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com tipo, prioridade, prazo e tags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com data, peso e nota opcional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Cancelamento de aula por data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393192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58258" y="2560320"/>
            <a:ext cx="731520" cy="73152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714" y="2779776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2658" y="2670048"/>
            <a:ext cx="2143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Lembrar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658258" y="34747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no navegador e no celular, no tempo certo para cada evento.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658258" y="416052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Tarefa: 24 h antes (configurável)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Prova: cascata 7, 3 e 1 dia antes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cancelada não gera lembrete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 o fuso horário do usuário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127797" y="2286000"/>
            <a:ext cx="3515258" cy="393192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447837" y="2560320"/>
            <a:ext cx="731520" cy="73152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293" y="2779776"/>
            <a:ext cx="292608" cy="29260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362237" y="2670048"/>
            <a:ext cx="2143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Motivar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447837" y="347472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Gamificação leve que só recompensa no V1.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8447837" y="416052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por tarefa, trabalho e nota registrada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por patamar de XP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dias com tarefa concluída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Conquistas por marcos do semestre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cebola: quem o sistema toca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60120" y="1691640"/>
            <a:ext cx="4389120" cy="4389120"/>
          </a:xfrm>
          <a:prstGeom prst="ellipse">
            <a:avLst/>
          </a:prstGeom>
          <a:solidFill>
            <a:srgbClr val="C9DDD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94460" y="2125980"/>
            <a:ext cx="3520440" cy="3520440"/>
          </a:xfrm>
          <a:prstGeom prst="ellipse">
            <a:avLst/>
          </a:prstGeom>
          <a:solidFill>
            <a:srgbClr val="A9CC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20240" y="2651760"/>
            <a:ext cx="2468880" cy="2468880"/>
          </a:xfrm>
          <a:prstGeom prst="ellipse">
            <a:avLst/>
          </a:prstGeom>
          <a:solidFill>
            <a:srgbClr val="5F9C7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200400"/>
            <a:ext cx="1371600" cy="1371600"/>
          </a:xfrm>
          <a:prstGeom prst="ellipse">
            <a:avLst/>
          </a:prstGeom>
          <a:solidFill>
            <a:srgbClr val="0F1E1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3080" y="1764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Ambiente amplo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Sistema abrangedor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 sistema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593592"/>
            <a:ext cx="1280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89320" y="1618488"/>
            <a:ext cx="457200" cy="45720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9385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em React, API em Spring Boot, banco PostgreSQL, publicado atrás do Traefik.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89320" y="2761488"/>
            <a:ext cx="457200" cy="45720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2743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0815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universitários, da UFRPE e de outras instituições. Rilson e Luiz são os primeiros usuários.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89320" y="3904488"/>
            <a:ext cx="457200" cy="45720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893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3886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abrangedor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42245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dupla, que assina o projeto no portfólio; a professora e a disciplina, que avaliam; grupos de estudo e um possível plano pago no futuro.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5047488"/>
            <a:ext cx="457200" cy="45720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8932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29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amplo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53675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(e-mail, senha e login Google de estudantes), padrões de Web Push dos navegadores, lojas de apps e concorrentes como MyStudyLife, Notion e Todoist.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DOMÍNIO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gira em torno da disciplina, dentro de um período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93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dos próprios dados. Contas individuais.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11880" y="18745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94760" y="1993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2331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semestre. Só um aberto por vez; o aluno arquiva.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187452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19933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B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disciplina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331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Eixo central: toda tarefa e prova pertence a uma.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418320" y="1463040"/>
            <a:ext cx="2240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15819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tarefa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Tipo, prioridade, prazo, tags.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18320" y="2606040"/>
            <a:ext cx="2240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0" y="272491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3063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peso e nota opcional.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11880" y="35204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94760" y="3639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horario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794760" y="3977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semanal fixa: a grade-tipo.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5204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0" y="3639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977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 por data: some do dia e silencia o lembrete.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5204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639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config_notificacao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3977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Antecedências por evento (lista).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017520" y="2331720"/>
            <a:ext cx="594360" cy="91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2331720"/>
            <a:ext cx="594360" cy="91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9144000" y="1920240"/>
            <a:ext cx="274320" cy="274320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44000" y="2468880"/>
            <a:ext cx="274320" cy="594360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846320" y="2788920"/>
            <a:ext cx="91" cy="731520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3977640"/>
            <a:ext cx="594360" cy="91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783080" y="2788920"/>
            <a:ext cx="91" cy="731520"/>
          </a:xfrm>
          <a:prstGeom prst="line">
            <a:avLst/>
          </a:prstGeom>
          <a:noFill/>
          <a:ln w="19050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48640" y="4846320"/>
            <a:ext cx="11109960" cy="1234440"/>
          </a:xfrm>
          <a:prstGeom prst="roundRect">
            <a:avLst>
              <a:gd name="adj" fmla="val 8889"/>
            </a:avLst>
          </a:prstGeom>
          <a:solidFill>
            <a:srgbClr val="FBF1D9"/>
          </a:solidFill>
          <a:ln w="15875">
            <a:solidFill>
              <a:srgbClr val="E6B84D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77240" y="5074920"/>
            <a:ext cx="777240" cy="777240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5308092"/>
            <a:ext cx="310896" cy="310896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78308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gamificacao — módulo isolado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783080" y="537667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eventos de domínio (tarefa concluída, nota registrada) e produz XP, nível, sequência e conquistas. Não se acopla ao CRUD; a punição fica como ponto de extensão para depois do V1.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ESCOPO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 de prioridade, em ordem de dependência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15258" cy="42976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868680" cy="868680"/>
          </a:xfrm>
          <a:prstGeom prst="roundRect">
            <a:avLst>
              <a:gd name="adj" fmla="val 15789"/>
            </a:avLst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901952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vertical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286000"/>
            <a:ext cx="2006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mínimo que já resolve o problema de ponta a ponta.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272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13639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 com e-mail e senha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6576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6758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68503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períodos e disciplinas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245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423367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Lançar e concluir tarefas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731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478231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painel Hoje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338218" y="1600200"/>
            <a:ext cx="3515258" cy="42976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2538" y="1874520"/>
            <a:ext cx="868680" cy="868680"/>
          </a:xfrm>
          <a:prstGeom prst="roundRect">
            <a:avLst>
              <a:gd name="adj" fmla="val 15789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12538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4098" y="1901952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completa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4098" y="2286000"/>
            <a:ext cx="2006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Provas, grade semanal e as exceções do calendário.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12538" y="31089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2538" y="31272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RF04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1218" y="313639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provas, pesos e notas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12538" y="36576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12538" y="36758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RF05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481218" y="368503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a grade semanal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612538" y="42062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12538" y="42245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RF06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481218" y="423367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aula pontual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612538" y="47548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12538" y="47731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RF11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481218" y="478231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Semana e Mês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612538" y="53035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12538" y="5321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RF09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481218" y="533095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Destacar colisões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7797" y="1600200"/>
            <a:ext cx="3515258" cy="42976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02117" y="1874520"/>
            <a:ext cx="868680" cy="868680"/>
          </a:xfrm>
          <a:prstGeom prst="roundRect">
            <a:avLst>
              <a:gd name="adj" fmla="val 15789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402117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2600" dirty="0"/>
          </a:p>
        </p:txBody>
      </p:sp>
      <p:sp>
        <p:nvSpPr>
          <p:cNvPr id="47" name="Text 45"/>
          <p:cNvSpPr txBox="1"/>
          <p:nvPr/>
        </p:nvSpPr>
        <p:spPr>
          <a:xfrm>
            <a:off x="9453677" y="1901952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Engajamento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9453677" y="2286000"/>
            <a:ext cx="20064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dados reais no sistema para fazer sentido.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402117" y="31089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402117" y="31272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RF07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270797" y="313639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Disparar lembretes Web Push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402117" y="36576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02117" y="36758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RF12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9270797" y="368503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Preferências de notificação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8402117" y="42062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402117" y="42245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RF08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9270797" y="423367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nível, sequência e conquistas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402117" y="47548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402117" y="47731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RF13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9270797" y="4782312"/>
            <a:ext cx="2235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com Google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de implementação: RF01 → RF02 → RF03 → RF10 → RF04 → RF05 → RF06 → RF11 → RF09 → RF07 → RF12 → RF08 → RF13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FUNCIONAIS · PRIORIDADE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vertical: conta, período, tarefa e Hoje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7830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013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17465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 com e-mail e senha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tudo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057400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e login com e-mail e senha; sessão em cookie httpOnly com refresh rotativo e logout.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79192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862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803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82549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períodos e disciplinas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862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136392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Criar, editar e arquivar o período; criar disciplinas com nome e cor dentro dele.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58184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410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593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9044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Lançar e concluir tarefas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9410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15384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com tipo (tarefa, trabalho, outro), prioridade, prazo e tags; marcar como concluída.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837176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200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3834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o painel Hoje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5020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RF03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737360" y="529437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com o que vence hoje e nos próximos dias, provas com contagem e progresso.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18120" y="1600200"/>
            <a:ext cx="3822192" cy="4572000"/>
          </a:xfrm>
          <a:prstGeom prst="roundRect">
            <a:avLst>
              <a:gd name="adj" fmla="val 2871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DE USUÁRIO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92440" y="219456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estudante, quero ver numa só tela o que vence hoje e nos próximos dias, para decidir o que fazer primeiro.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3657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tarefas pendentes do período ativo, da mais próxima para a mais distante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Concluir uma tarefa tira ela da lista na hora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em tela de 360 px, só com toque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FUNCIONAIS · PRIORIDADE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completa: provas, grade e exceções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94944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7830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013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17465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provas, pesos e notas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05740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com data, peso e observações; nota registrada depois, opcional.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96312"/>
            <a:ext cx="694944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67919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6974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42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a grade semanal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679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RF02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95351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fixas por dia da semana e horário, válidas dentro do período.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92424"/>
            <a:ext cx="694944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57530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5935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RF06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5387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aula pontual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575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3849624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que a aula de uma data não acontece, com motivo opcional; poder desfazer.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288536"/>
            <a:ext cx="694944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447141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897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4434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Semana e Mês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44714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RF04, RF05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737360" y="474573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Visões de semana (grade de horários) e de mês, começando na segunda-feira.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184648"/>
            <a:ext cx="6949440" cy="76809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53675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2F6B4A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8581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737360" y="533095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Destacar colisões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5367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RF11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564184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Sinalizar prazos e provas que caem no mesmo dia ou horário.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818120" y="1600200"/>
            <a:ext cx="3822192" cy="4572000"/>
          </a:xfrm>
          <a:prstGeom prst="roundRect">
            <a:avLst>
              <a:gd name="adj" fmla="val 2871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DE USUÁRIO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092440" y="219456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estudante, quero marcar que a aula de amanhã foi cancelada, para não ir à toa nem ser lembrado dela.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8092440" y="3657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aula some daquela data e continua nas outras semanas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dá para cancelar duas vezes a mesma aula na mesma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Desfazer o cancelamento traz a aula de volta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FUNCIONAIS · PRIORIDADE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Engajamento: lembretes e gamificação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7830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013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RF07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17465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Disparar lembretes Web Push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RF03, RF04, RF06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057400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disparado por job agendado no servidor; tarefa 24 h antes, prova 7-3-1.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79192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862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803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82549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Preferências de notificação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862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136392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Ativar, desativar e ajustar antecedências por tipo de evento.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58184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410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5935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RF08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9044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nível, sequência e conquistas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9410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RF03, RF04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15384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domínio viram XP, nível, sequência de dias e conquistas.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837176"/>
            <a:ext cx="6949440" cy="95097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200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3834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RF13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com Google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5020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RF01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737360" y="529437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 conta Google como alternativa ao e-mail e senha.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18120" y="1600200"/>
            <a:ext cx="3822192" cy="4572000"/>
          </a:xfrm>
          <a:prstGeom prst="roundRect">
            <a:avLst>
              <a:gd name="adj" fmla="val 2871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DE USUÁRIO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92440" y="219456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estudante, quero ser avisado 7, 3 e 1 dia antes de cada prova, para começar a estudar a tempo.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3657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avisos por prova, nos horários do meu fuso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aviso repetido para o mesmo evento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Posso desligar os avisos de prova nas preferências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ROBUSTEZ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 funcionais com critério verificável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567864" cy="45720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06654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1920240"/>
            <a:ext cx="1379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RNF01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167128"/>
            <a:ext cx="1379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px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657600"/>
            <a:ext cx="2019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Operável só com toque de 360 a 2560 px de largura, sem depender de hover, instalável como PWA.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" y="5257800"/>
            <a:ext cx="2202104" cy="777240"/>
          </a:xfrm>
          <a:prstGeom prst="roundRect">
            <a:avLst>
              <a:gd name="adj" fmla="val 9412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330952"/>
            <a:ext cx="1927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verificar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E2E no Playwright com tela de 360 px.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90824" y="1600200"/>
            <a:ext cx="2567864" cy="45720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65144" y="1874520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168" y="206654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442384" y="1920240"/>
            <a:ext cx="1379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RNF02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42384" y="2167128"/>
            <a:ext cx="1379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3665144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99,5%</a:t>
            </a:r>
            <a:endParaRPr lang="en-US" sz="3800" dirty="0"/>
          </a:p>
        </p:txBody>
      </p:sp>
      <p:sp>
        <p:nvSpPr>
          <p:cNvPr id="22" name="Text 18"/>
          <p:cNvSpPr txBox="1"/>
          <p:nvPr/>
        </p:nvSpPr>
        <p:spPr>
          <a:xfrm>
            <a:off x="3665144" y="3657600"/>
            <a:ext cx="2019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mensal em produção: restart automático, health checks, backup com restauração testada e monitor no Uptime Kuma.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3573704" y="5257800"/>
            <a:ext cx="2202104" cy="777240"/>
          </a:xfrm>
          <a:prstGeom prst="roundRect">
            <a:avLst>
              <a:gd name="adj" fmla="val 9412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710864" y="5330952"/>
            <a:ext cx="1927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verificar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mensal do Uptime Kuma.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233008" y="1600200"/>
            <a:ext cx="2567864" cy="45720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507328" y="1874520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352" y="2066544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284568" y="1920240"/>
            <a:ext cx="1379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RNF03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284568" y="2167128"/>
            <a:ext cx="1379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tokens</a:t>
            </a:r>
            <a:endParaRPr lang="en-US" sz="38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3657600"/>
            <a:ext cx="2019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localStorage. Sessão em cookie httpOnly e SameSite=Lax, refresh rotativo, rate limit no login e autorização por dono em toda rota.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6415888" y="5257800"/>
            <a:ext cx="2202104" cy="777240"/>
          </a:xfrm>
          <a:prstGeom prst="roundRect">
            <a:avLst>
              <a:gd name="adj" fmla="val 9412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553048" y="5330952"/>
            <a:ext cx="1927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verificar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API: recurso de outra conta responde 404.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9075191" y="1600200"/>
            <a:ext cx="2567864" cy="4572000"/>
          </a:xfrm>
          <a:prstGeom prst="roundRect">
            <a:avLst>
              <a:gd name="adj" fmla="val 4273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49511" y="1874520"/>
            <a:ext cx="640080" cy="64008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535" y="2066544"/>
            <a:ext cx="256032" cy="25603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126751" y="1920240"/>
            <a:ext cx="1379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RNF04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10126751" y="2167128"/>
            <a:ext cx="1379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 e fuso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9349511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idiomas</a:t>
            </a:r>
            <a:endParaRPr lang="en-US" sz="3800" dirty="0"/>
          </a:p>
        </p:txBody>
      </p:sp>
      <p:sp>
        <p:nvSpPr>
          <p:cNvPr id="40" name="Text 34"/>
          <p:cNvSpPr txBox="1"/>
          <p:nvPr/>
        </p:nvSpPr>
        <p:spPr>
          <a:xfrm>
            <a:off x="9349511" y="3657600"/>
            <a:ext cx="20192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pt-BR ativo e inglês pronto desde o V1. Nenhum texto fixo no código; idioma e fuso por usuário.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258071" y="5257800"/>
            <a:ext cx="2202104" cy="777240"/>
          </a:xfrm>
          <a:prstGeom prst="roundRect">
            <a:avLst>
              <a:gd name="adj" fmla="val 9412"/>
            </a:avLst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395231" y="5330952"/>
            <a:ext cx="1927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verificar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string de interface fora do dicionário.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ator principal e dois sistemas externos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3520440"/>
            <a:ext cx="914400" cy="914400"/>
          </a:xfrm>
          <a:prstGeom prst="ellipse">
            <a:avLst/>
          </a:prstGeom>
          <a:solidFill>
            <a:srgbClr val="0F1E18"/>
          </a:solidFill>
          <a:ln w="12700">
            <a:solidFill>
              <a:srgbClr val="0F1E1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7947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" y="4526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51760" y="1508760"/>
            <a:ext cx="6675120" cy="4709160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5875">
            <a:solidFill>
              <a:srgbClr val="2F6B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80360" y="187452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08960" y="19476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UC01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 usuário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880360" y="274320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8960" y="28163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UC06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painel Hoje e prazos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80360" y="361188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08960" y="368503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UC02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período e disciplinas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880360" y="448056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8960" y="45537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UC03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Lançar tarefas e provas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80360" y="534924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54223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UC04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grade semanal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55080" y="361188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68503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UC07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Computar XP e sequência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55080" y="4480560"/>
            <a:ext cx="2834640" cy="713232"/>
          </a:xfrm>
          <a:prstGeom prst="ellipse">
            <a:avLst/>
          </a:prstGeom>
          <a:solidFill>
            <a:srgbClr val="E3EEE7"/>
          </a:solidFill>
          <a:ln w="12700">
            <a:solidFill>
              <a:srgbClr val="2F6B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455371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UC08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e disparar lembrete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355080" y="5349240"/>
            <a:ext cx="2834640" cy="713232"/>
          </a:xfrm>
          <a:prstGeom prst="ellipse">
            <a:avLst/>
          </a:prstGeom>
          <a:solidFill>
            <a:srgbClr val="FBF1D9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54223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UC05</a:t>
            </a:r>
            <a:endParaRPr lang="en-US" sz="1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cancelamento de aula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 flipV="1">
            <a:off x="1691640" y="2231136"/>
            <a:ext cx="1188720" cy="1746504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1691640" y="3099816"/>
            <a:ext cx="1188720" cy="877824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1691640" y="3968496"/>
            <a:ext cx="1188720" cy="9144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91640" y="3977640"/>
            <a:ext cx="1188720" cy="859536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91640" y="3977640"/>
            <a:ext cx="1188720" cy="1728216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5715000" y="3968496"/>
            <a:ext cx="640080" cy="786384"/>
          </a:xfrm>
          <a:prstGeom prst="line">
            <a:avLst/>
          </a:prstGeom>
          <a:noFill/>
          <a:ln w="15875">
            <a:solidFill>
              <a:srgbClr val="2F6B4A"/>
            </a:solidFill>
            <a:prstDash val="dash"/>
            <a:tailEnd type="open"/>
          </a:ln>
        </p:spPr>
      </p:sp>
      <p:sp>
        <p:nvSpPr>
          <p:cNvPr id="34" name="Text 31"/>
          <p:cNvSpPr txBox="1"/>
          <p:nvPr/>
        </p:nvSpPr>
        <p:spPr>
          <a:xfrm>
            <a:off x="5623560" y="39319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715000" y="4837176"/>
            <a:ext cx="640080" cy="91"/>
          </a:xfrm>
          <a:prstGeom prst="line">
            <a:avLst/>
          </a:prstGeom>
          <a:noFill/>
          <a:ln w="15875">
            <a:solidFill>
              <a:srgbClr val="2F6B4A"/>
            </a:solidFill>
            <a:prstDash val="dash"/>
            <a:tailEnd type="open"/>
          </a:ln>
        </p:spPr>
      </p:sp>
      <p:sp>
        <p:nvSpPr>
          <p:cNvPr id="36" name="Text 33"/>
          <p:cNvSpPr txBox="1"/>
          <p:nvPr/>
        </p:nvSpPr>
        <p:spPr>
          <a:xfrm>
            <a:off x="5623560" y="48737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 flipH="1">
            <a:off x="5715000" y="5705856"/>
            <a:ext cx="640080" cy="91"/>
          </a:xfrm>
          <a:prstGeom prst="line">
            <a:avLst/>
          </a:prstGeom>
          <a:noFill/>
          <a:ln w="15875">
            <a:solidFill>
              <a:srgbClr val="2F6B4A"/>
            </a:solidFill>
            <a:prstDash val="dash"/>
            <a:tailEnd type="open"/>
          </a:ln>
        </p:spPr>
      </p:sp>
      <p:sp>
        <p:nvSpPr>
          <p:cNvPr id="38" name="Text 35"/>
          <p:cNvSpPr txBox="1"/>
          <p:nvPr/>
        </p:nvSpPr>
        <p:spPr>
          <a:xfrm>
            <a:off x="5623560" y="57424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10287000" y="1783080"/>
            <a:ext cx="777240" cy="77724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0172" y="2016252"/>
            <a:ext cx="310896" cy="310896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9738360" y="2606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10287000" y="4160520"/>
            <a:ext cx="777240" cy="77724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0172" y="4393692"/>
            <a:ext cx="310896" cy="310896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738360" y="49834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Web Push</a:t>
            </a:r>
            <a:endParaRPr lang="en-US" sz="1200" dirty="0"/>
          </a:p>
        </p:txBody>
      </p:sp>
      <p:sp>
        <p:nvSpPr>
          <p:cNvPr id="45" name="Shape 40"/>
          <p:cNvSpPr/>
          <p:nvPr/>
        </p:nvSpPr>
        <p:spPr>
          <a:xfrm flipV="1">
            <a:off x="5715000" y="2171700"/>
            <a:ext cx="4572000" cy="59436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 flipV="1">
            <a:off x="9189720" y="4549140"/>
            <a:ext cx="1097280" cy="288036"/>
          </a:xfrm>
          <a:prstGeom prst="line">
            <a:avLst/>
          </a:prstGeom>
          <a:noFill/>
          <a:ln w="15875">
            <a:solidFill>
              <a:srgbClr val="3A4A4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EM DETALHE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UC05 · Registrar cancelamento de aula pontual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46634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6654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79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91693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que a aula de uma data não acontece: some do calendário e o lembrete daquele dia é silenciado.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95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PRÉ-CONDIÇÃO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6732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e horário cadastrados na grade (UC04).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37997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PÓS-CONDIÇÃO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1772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em cancelamento, aula oculta naquela data e nenhum lembrete disparado para ela.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2303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46811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Tocar no card da aula e escolher “Cancelar aula nesta data”.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07608" y="1783080"/>
            <a:ext cx="91" cy="3063240"/>
          </a:xfrm>
          <a:prstGeom prst="line">
            <a:avLst/>
          </a:prstGeom>
          <a:noFill/>
          <a:ln w="28575">
            <a:solidFill>
              <a:srgbClr val="93C7A6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806440" y="1645920"/>
            <a:ext cx="40233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167335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abre a aula na grade ou no painel Hoje e toca em “Registrar cancelamento”.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06440" y="2212848"/>
            <a:ext cx="40233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0644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240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modal pede a confirmação da data e um motivo opcional.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06440" y="2779776"/>
            <a:ext cx="40233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06440" y="2779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280720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 envia POST /api/v1/horarios/{horarioId}/cancelamentos com a data.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806440" y="3346704"/>
            <a:ext cx="40233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0644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3741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API confere se o horário é do usuário e grava o cancelamento.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806440" y="3913632"/>
            <a:ext cx="40233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913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94106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job de lembretes passa a ignorar aquela aula naquela data.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806440" y="4480560"/>
            <a:ext cx="402336" cy="402336"/>
          </a:xfrm>
          <a:prstGeom prst="ellipse">
            <a:avLst/>
          </a:prstGeom>
          <a:solidFill>
            <a:srgbClr val="E6B84D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064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450799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calendário mostra a aula como cancelada.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806440" y="5120640"/>
            <a:ext cx="2788920" cy="1051560"/>
          </a:xfrm>
          <a:prstGeom prst="roundRect">
            <a:avLst>
              <a:gd name="adj" fmla="val 10435"/>
            </a:avLst>
          </a:prstGeom>
          <a:solidFill>
            <a:srgbClr val="E3EEE7"/>
          </a:solidFill>
          <a:ln w="9525">
            <a:solidFill>
              <a:srgbClr val="E3EEE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989320" y="523036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FA01 · Desfazer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/cancelamentos/{id} devolve a aula e reagenda o lembrete se houver tempo.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778240" y="5120640"/>
            <a:ext cx="2834640" cy="1051560"/>
          </a:xfrm>
          <a:prstGeom prst="roundRect">
            <a:avLst>
              <a:gd name="adj" fmla="val 10435"/>
            </a:avLst>
          </a:prstGeom>
          <a:solidFill>
            <a:srgbClr val="F6E3E1"/>
          </a:solidFill>
          <a:ln w="9525">
            <a:solidFill>
              <a:srgbClr val="F6E3E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61120" y="523036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FE01 · Data passada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Recusada com mensagem clara. Regra ainda não descrita no contrato.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 API separados por um contrato OpenAPI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3017520" cy="1463040"/>
          </a:xfrm>
          <a:prstGeom prst="roundRect">
            <a:avLst>
              <a:gd name="adj" fmla="val 7500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0391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8470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/ PWA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17627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TypeScript, Tailwind e shadcn/ui. Service worker para instalar e receber push.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06240" y="1645920"/>
            <a:ext cx="2743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34840" y="1874520"/>
            <a:ext cx="548640" cy="54864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0391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20640" y="18470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Traefik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217627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e roteamento na VPS Hetzner. Nginx serve o front e faz proxy de /api.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589520" y="1645920"/>
            <a:ext cx="4050792" cy="1463040"/>
          </a:xfrm>
          <a:prstGeom prst="roundRect">
            <a:avLst>
              <a:gd name="adj" fmla="val 7500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818120" y="1874520"/>
            <a:ext cx="548640" cy="54864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203911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03920" y="1847088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Spring Boot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503920" y="2176272"/>
            <a:ext cx="2999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21, Spring Security, JPA e Flyway. Autorização por dono em toda rota; jobs agendados de lembrete.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589520" y="3703320"/>
            <a:ext cx="4050792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18120" y="3931920"/>
            <a:ext cx="548640" cy="54864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2712" y="409651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03920" y="3904488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8503920" y="4233672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rota_de_estudo_db com role isolada rota_app. Schema só muda por migration.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4206240" y="370332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434840" y="3931920"/>
            <a:ext cx="548640" cy="548640"/>
          </a:xfrm>
          <a:prstGeom prst="ellipse">
            <a:avLst/>
          </a:prstGeom>
          <a:solidFill>
            <a:srgbClr val="E3EEE7"/>
          </a:solidFill>
          <a:ln w="12700">
            <a:solidFill>
              <a:srgbClr val="E3EEE7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432" y="4096512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120640" y="39044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5120640" y="423367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de push do navegador entrega o lembrete.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3566160" y="2377440"/>
            <a:ext cx="640080" cy="91"/>
          </a:xfrm>
          <a:prstGeom prst="line">
            <a:avLst/>
          </a:prstGeom>
          <a:noFill/>
          <a:ln w="22225">
            <a:solidFill>
              <a:srgbClr val="2F6B4A"/>
            </a:solidFill>
            <a:prstDash val="solid"/>
            <a:headEnd type="triangle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6949440" y="2377440"/>
            <a:ext cx="640080" cy="91"/>
          </a:xfrm>
          <a:prstGeom prst="line">
            <a:avLst/>
          </a:prstGeom>
          <a:noFill/>
          <a:ln w="22225">
            <a:solidFill>
              <a:srgbClr val="2F6B4A"/>
            </a:solidFill>
            <a:prstDash val="solid"/>
            <a:headEnd type="triangle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9601200" y="3108960"/>
            <a:ext cx="91" cy="594360"/>
          </a:xfrm>
          <a:prstGeom prst="line">
            <a:avLst/>
          </a:prstGeom>
          <a:noFill/>
          <a:ln w="22225">
            <a:solidFill>
              <a:srgbClr val="2F6B4A"/>
            </a:solidFill>
            <a:prstDash val="solid"/>
            <a:headEnd type="triangle"/>
            <a:tailEnd type="triangle"/>
          </a:ln>
        </p:spPr>
      </p:sp>
      <p:sp>
        <p:nvSpPr>
          <p:cNvPr id="35" name="Shape 28"/>
          <p:cNvSpPr/>
          <p:nvPr/>
        </p:nvSpPr>
        <p:spPr>
          <a:xfrm flipH="1">
            <a:off x="6949440" y="3108960"/>
            <a:ext cx="1188720" cy="822960"/>
          </a:xfrm>
          <a:prstGeom prst="line">
            <a:avLst/>
          </a:prstGeom>
          <a:noFill/>
          <a:ln w="22225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6" name="Shape 29"/>
          <p:cNvSpPr/>
          <p:nvPr/>
        </p:nvSpPr>
        <p:spPr>
          <a:xfrm flipH="1" flipV="1">
            <a:off x="2057400" y="3108960"/>
            <a:ext cx="2148840" cy="1261872"/>
          </a:xfrm>
          <a:prstGeom prst="line">
            <a:avLst/>
          </a:prstGeom>
          <a:noFill/>
          <a:ln w="22225">
            <a:solidFill>
              <a:srgbClr val="2F6B4A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3EEE7"/>
          </a:solidFill>
          <a:ln w="9525">
            <a:solidFill>
              <a:srgbClr val="E3EEE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82296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 </a:t>
            </a:r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e Playwright no front · JUnit e Mockito na API      </a:t>
            </a:r>
            <a:pPr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 </a:t>
            </a:r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e Uptime Kuma      </a:t>
            </a:r>
            <a:pPr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 </a:t>
            </a:r>
            <a:pPr indent="0" marL="0">
              <a:buNone/>
            </a:pPr>
            <a:r>
              <a:rPr lang="en-US" sz="1250" dirty="0">
                <a:solidFill>
                  <a:srgbClr val="0F1E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25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43434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contrato docs/openapi.yaml gera os tipos TypeScript do front. Mudança incompatível passa por revisão do contrato antes do código.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ENTREGAS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 até a apresentação final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00200" y="3017520"/>
            <a:ext cx="8988552" cy="91"/>
          </a:xfrm>
          <a:prstGeom prst="line">
            <a:avLst/>
          </a:prstGeom>
          <a:noFill/>
          <a:ln w="38100">
            <a:solidFill>
              <a:srgbClr val="93C7A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362456" y="2779776"/>
            <a:ext cx="475488" cy="475488"/>
          </a:xfrm>
          <a:prstGeom prst="ellipse">
            <a:avLst/>
          </a:prstGeom>
          <a:solidFill>
            <a:srgbClr val="2F6B4A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25/09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concluída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520440"/>
            <a:ext cx="2011680" cy="2148840"/>
          </a:xfrm>
          <a:prstGeom prst="roundRect">
            <a:avLst>
              <a:gd name="adj" fmla="val 5455"/>
            </a:avLst>
          </a:prstGeom>
          <a:solidFill>
            <a:srgbClr val="E3EEE7"/>
          </a:solidFill>
          <a:ln w="9525">
            <a:solidFill>
              <a:srgbClr val="E3E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67588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OpenAPI, migration V1, esqueleto do front e da API, Compose local.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09594" y="2779776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41498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2841498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Report 2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841498" y="3520440"/>
            <a:ext cx="2011680" cy="2148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78658" y="367588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visual e 2 histórias implementadas: RF01 a RF03 e o painel Hoje (RF10).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6732" y="2779776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88636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28/10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08863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Report 3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88636" y="3520440"/>
            <a:ext cx="2011680" cy="2148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25796" y="367588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Lições aprendidas e ações corretivas; P2 em andamento (provas e grade).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03870" y="2779776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35774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16/11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335774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VA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335774" y="3520440"/>
            <a:ext cx="2011680" cy="2148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72934" y="367588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completa (P2): cancelamento, Semana/Mês, colisões.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351008" y="2779776"/>
            <a:ext cx="475488" cy="475488"/>
          </a:xfrm>
          <a:prstGeom prst="ellipse">
            <a:avLst/>
          </a:prstGeom>
          <a:solidFill>
            <a:srgbClr val="E6B84D"/>
          </a:solidFill>
          <a:ln w="31750">
            <a:solidFill>
              <a:srgbClr val="2F6B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82912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30/11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58291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VA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82912" y="3520440"/>
            <a:ext cx="2011680" cy="2148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20072" y="367588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Lembretes push, gamificação e primeiro deploy na VPS (P3).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 disciplina; o escopo de cada marco é proposta da dupla, a revisar a cada status report.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já está no repositório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67864" cy="1828800"/>
          </a:xfrm>
          <a:prstGeom prst="roundRect">
            <a:avLst>
              <a:gd name="adj" fmla="val 6000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no contrato OpenAPI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691640"/>
            <a:ext cx="2567864" cy="1828800"/>
          </a:xfrm>
          <a:prstGeom prst="roundRect">
            <a:avLst>
              <a:gd name="adj" fmla="val 6000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65144" y="1828800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88036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na migration V1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691640"/>
            <a:ext cx="2567864" cy="1828800"/>
          </a:xfrm>
          <a:prstGeom prst="roundRect">
            <a:avLst>
              <a:gd name="adj" fmla="val 6000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07328" y="1828800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88036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registradas em ADR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75191" y="1691640"/>
            <a:ext cx="2567864" cy="1828800"/>
          </a:xfrm>
          <a:prstGeom prst="roundRect">
            <a:avLst>
              <a:gd name="adj" fmla="val 6000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49511" y="1828800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9349511" y="288036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idiomas no dicionário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417423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34440" y="4096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(Fase 0)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7091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 tipos TypeScript gerados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da API com checagem do banco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mobile-first com rotas Hoje, Semana e Mês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de preflight e verificação completa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309360" y="4023360"/>
            <a:ext cx="502920" cy="50292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4174236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995160" y="4096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não existe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6400800" y="47091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CRUD (Fase 1)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PWA e gamificação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domínio, backup e monitoramento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frentes entre a dupla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pode dar errado e o que fica de fora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Estudo · Documento de Visão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4739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B8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67512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9D8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mitigação</a:t>
            </a:r>
            <a:endParaRPr lang="en-US" sz="17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13432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80160" y="22860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aprendizado do Spring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61518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definido antes do código; primeira fatia pequena.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461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321868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 pequena, prazos da disciplina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354787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 P1–P3 e escopo que não cresce na empolgação.</a:t>
            </a:r>
            <a:endParaRPr lang="en-US" sz="12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78808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415137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no iPhone só com o app instalado na tela inicial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44805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instalável e o painel Hoje como fonte principal.</a:t>
            </a:r>
            <a:endParaRPr lang="en-US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11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80160" y="5084064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E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única não é alta disponibilidade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1280160" y="541324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com restauração testada, health checks e monitor.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7498080" y="1600200"/>
            <a:ext cx="4142232" cy="4572000"/>
          </a:xfrm>
          <a:prstGeom prst="roundRect">
            <a:avLst>
              <a:gd name="adj" fmla="val 2649"/>
            </a:avLst>
          </a:prstGeom>
          <a:solidFill>
            <a:srgbClr val="0F1E18"/>
          </a:solidFill>
          <a:ln w="9525">
            <a:solidFill>
              <a:srgbClr val="0F1E18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MVP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22860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Edição offline com sincronização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soltar no calendário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 genérica (RRULE)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horário e aula extra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nativo (Expo, mesma API)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Punições na gamificação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compartilhada em grupo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pago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18872" cy="118872"/>
          </a:xfrm>
          <a:prstGeom prst="ellipse">
            <a:avLst/>
          </a:prstGeom>
          <a:solidFill>
            <a:srgbClr val="E6B84D"/>
          </a:solidFill>
          <a:ln w="12700">
            <a:solidFill>
              <a:srgbClr val="E6B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40233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3C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SUCESSO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MVP está pronto quando esta rota funciona de ponta a ponta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88720" y="2331720"/>
            <a:ext cx="9784080" cy="91"/>
          </a:xfrm>
          <a:prstGeom prst="line">
            <a:avLst/>
          </a:prstGeom>
          <a:noFill/>
          <a:ln w="38100">
            <a:solidFill>
              <a:srgbClr val="93C7A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969264" y="2112264"/>
            <a:ext cx="438912" cy="438912"/>
          </a:xfrm>
          <a:prstGeom prst="ellipse">
            <a:avLst/>
          </a:prstGeom>
          <a:solidFill>
            <a:srgbClr val="0F1E18"/>
          </a:solidFill>
          <a:ln w="31750">
            <a:solidFill>
              <a:srgbClr val="93C7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2880" y="2743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conta e entra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15284" y="2112264"/>
            <a:ext cx="438912" cy="438912"/>
          </a:xfrm>
          <a:prstGeom prst="ellipse">
            <a:avLst/>
          </a:prstGeom>
          <a:solidFill>
            <a:srgbClr val="0F1E18"/>
          </a:solidFill>
          <a:ln w="31750">
            <a:solidFill>
              <a:srgbClr val="93C7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28900" y="2743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 período e cadastra disciplinas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61304" y="2112264"/>
            <a:ext cx="438912" cy="438912"/>
          </a:xfrm>
          <a:prstGeom prst="ellipse">
            <a:avLst/>
          </a:prstGeom>
          <a:solidFill>
            <a:srgbClr val="0F1E18"/>
          </a:solidFill>
          <a:ln w="31750">
            <a:solidFill>
              <a:srgbClr val="93C7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2743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 tarefa e prova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307324" y="2112264"/>
            <a:ext cx="438912" cy="438912"/>
          </a:xfrm>
          <a:prstGeom prst="ellipse">
            <a:avLst/>
          </a:prstGeom>
          <a:solidFill>
            <a:srgbClr val="0F1E18"/>
          </a:solidFill>
          <a:ln w="31750">
            <a:solidFill>
              <a:srgbClr val="93C7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20940" y="2743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tudo no painel Hoje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0753344" y="2112264"/>
            <a:ext cx="438912" cy="438912"/>
          </a:xfrm>
          <a:prstGeom prst="ellipse">
            <a:avLst/>
          </a:prstGeom>
          <a:solidFill>
            <a:srgbClr val="E6B84D"/>
          </a:solidFill>
          <a:ln w="31750">
            <a:solidFill>
              <a:srgbClr val="93C7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66960" y="27432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Conclui a tarefa e o histórico atualiza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6B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4622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4389120"/>
            <a:ext cx="2326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0292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cumpre o fluxo e os dados persistem e voltam sem erro.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338218" y="4069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12538" y="4297680"/>
            <a:ext cx="548640" cy="54864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130" y="4462272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44058" y="4389120"/>
            <a:ext cx="2326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4612538" y="50292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Operável por toque a partir de 360 px e no computador, sem quebra de layout.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127797" y="4069080"/>
            <a:ext cx="3515258" cy="2148840"/>
          </a:xfrm>
          <a:prstGeom prst="roundRect">
            <a:avLst>
              <a:gd name="adj" fmla="val 5106"/>
            </a:avLst>
          </a:prstGeom>
          <a:solidFill>
            <a:srgbClr val="162720"/>
          </a:solidFill>
          <a:ln w="12700">
            <a:solidFill>
              <a:srgbClr val="293D35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402117" y="4297680"/>
            <a:ext cx="548640" cy="548640"/>
          </a:xfrm>
          <a:prstGeom prst="ellipse">
            <a:avLst/>
          </a:prstGeom>
          <a:solidFill>
            <a:srgbClr val="293D35"/>
          </a:solidFill>
          <a:ln w="12700">
            <a:solidFill>
              <a:srgbClr val="293D3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4462272"/>
            <a:ext cx="219456" cy="21945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133637" y="4389120"/>
            <a:ext cx="2326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integrada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8402117" y="502920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B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com front, API e banco via docker compose up --build, com testes passando.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 de Estudo — Visão do Projeto e Requisitos</dc:title>
  <dc:subject>PptxGenJS Presentation</dc:subject>
  <dc:creator>Rilson Joás e Luiz Felipe Silva</dc:creator>
  <cp:lastModifiedBy>Rilson Joás e Luiz Felipe Silva</cp:lastModifiedBy>
  <cp:revision>1</cp:revision>
  <dcterms:created xsi:type="dcterms:W3CDTF">2026-09-29T03:21:23Z</dcterms:created>
  <dcterms:modified xsi:type="dcterms:W3CDTF">2026-09-29T03:21:23Z</dcterms:modified>
</cp:coreProperties>
</file>